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IBM Plex Sans" charset="1" panose="020B0503050203000203"/>
      <p:regular r:id="rId14"/>
    </p:embeddedFont>
    <p:embeddedFont>
      <p:font typeface="Neo Tech" charset="1" panose="020B0504030504040204"/>
      <p:regular r:id="rId15"/>
    </p:embeddedFont>
    <p:embeddedFont>
      <p:font typeface="Mokoto" charset="1" panose="00000000000000000000"/>
      <p:regular r:id="rId16"/>
    </p:embeddedFont>
    <p:embeddedFont>
      <p:font typeface="Neo Tech Bold" charset="1" panose="020B0804030504040204"/>
      <p:regular r:id="rId17"/>
    </p:embeddedFont>
    <p:embeddedFont>
      <p:font typeface="Koho" charset="1" panose="00000500000000000000"/>
      <p:regular r:id="rId18"/>
    </p:embeddedFont>
    <p:embeddedFont>
      <p:font typeface="Arimo Bold" charset="1" panose="020B0704020202020204"/>
      <p:regular r:id="rId19"/>
    </p:embeddedFont>
    <p:embeddedFont>
      <p:font typeface="Canva Sans Bold" charset="1" panose="020B0803030501040103"/>
      <p:regular r:id="rId20"/>
    </p:embeddedFont>
    <p:embeddedFont>
      <p:font typeface="Arimo" charset="1" panose="020B06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499617" y="-3375063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7161170" y="0"/>
                </a:moveTo>
                <a:lnTo>
                  <a:pt x="0" y="0"/>
                </a:lnTo>
                <a:lnTo>
                  <a:pt x="0" y="10230242"/>
                </a:lnTo>
                <a:lnTo>
                  <a:pt x="7161170" y="10230242"/>
                </a:lnTo>
                <a:lnTo>
                  <a:pt x="716117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25238" y="-1294162"/>
            <a:ext cx="7793442" cy="4080930"/>
          </a:xfrm>
          <a:custGeom>
            <a:avLst/>
            <a:gdLst/>
            <a:ahLst/>
            <a:cxnLst/>
            <a:rect r="r" b="b" t="t" l="l"/>
            <a:pathLst>
              <a:path h="4080930" w="7793442">
                <a:moveTo>
                  <a:pt x="0" y="0"/>
                </a:moveTo>
                <a:lnTo>
                  <a:pt x="7793442" y="0"/>
                </a:lnTo>
                <a:lnTo>
                  <a:pt x="7793442" y="4080930"/>
                </a:lnTo>
                <a:lnTo>
                  <a:pt x="0" y="4080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494558" y="7817332"/>
            <a:ext cx="7793442" cy="4080930"/>
          </a:xfrm>
          <a:custGeom>
            <a:avLst/>
            <a:gdLst/>
            <a:ahLst/>
            <a:cxnLst/>
            <a:rect r="r" b="b" t="t" l="l"/>
            <a:pathLst>
              <a:path h="4080930" w="7793442">
                <a:moveTo>
                  <a:pt x="0" y="0"/>
                </a:moveTo>
                <a:lnTo>
                  <a:pt x="7793442" y="0"/>
                </a:lnTo>
                <a:lnTo>
                  <a:pt x="7793442" y="4080930"/>
                </a:lnTo>
                <a:lnTo>
                  <a:pt x="0" y="4080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3911" y="94112"/>
            <a:ext cx="1066800" cy="1066800"/>
            <a:chOff x="0" y="0"/>
            <a:chExt cx="1422400" cy="1422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224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1422400">
                  <a:moveTo>
                    <a:pt x="0" y="0"/>
                  </a:moveTo>
                  <a:lnTo>
                    <a:pt x="1422400" y="0"/>
                  </a:lnTo>
                  <a:lnTo>
                    <a:pt x="1422400" y="1422400"/>
                  </a:lnTo>
                  <a:lnTo>
                    <a:pt x="0" y="142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7086698" y="2124844"/>
            <a:ext cx="3843654" cy="3843654"/>
          </a:xfrm>
          <a:custGeom>
            <a:avLst/>
            <a:gdLst/>
            <a:ahLst/>
            <a:cxnLst/>
            <a:rect r="r" b="b" t="t" l="l"/>
            <a:pathLst>
              <a:path h="3843654" w="3843654">
                <a:moveTo>
                  <a:pt x="0" y="0"/>
                </a:moveTo>
                <a:lnTo>
                  <a:pt x="3843654" y="0"/>
                </a:lnTo>
                <a:lnTo>
                  <a:pt x="3843654" y="3843654"/>
                </a:lnTo>
                <a:lnTo>
                  <a:pt x="0" y="38436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17311" y="8572211"/>
            <a:ext cx="2953196" cy="1315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570">
                <a:solidFill>
                  <a:srgbClr val="F3F4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INTEGRANTES</a:t>
            </a:r>
          </a:p>
          <a:p>
            <a:pPr algn="l">
              <a:lnSpc>
                <a:spcPts val="3599"/>
              </a:lnSpc>
            </a:pPr>
            <a:r>
              <a:rPr lang="en-US" sz="2570">
                <a:solidFill>
                  <a:srgbClr val="F3F4FF"/>
                </a:solidFill>
                <a:latin typeface="Neo Tech"/>
                <a:ea typeface="Neo Tech"/>
                <a:cs typeface="Neo Tech"/>
                <a:sym typeface="Neo Tech"/>
              </a:rPr>
              <a:t>Esteban Bracamonte</a:t>
            </a:r>
          </a:p>
          <a:p>
            <a:pPr algn="l">
              <a:lnSpc>
                <a:spcPts val="3599"/>
              </a:lnSpc>
            </a:pPr>
            <a:r>
              <a:rPr lang="en-US" sz="2570">
                <a:solidFill>
                  <a:srgbClr val="F3F4FF"/>
                </a:solidFill>
                <a:latin typeface="Neo Tech"/>
                <a:ea typeface="Neo Tech"/>
                <a:cs typeface="Neo Tech"/>
                <a:sym typeface="Neo Tech"/>
              </a:rPr>
              <a:t>Alonso Alfaro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17323" y="8572211"/>
            <a:ext cx="3638996" cy="868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570">
                <a:solidFill>
                  <a:srgbClr val="F3F4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PROFESOR ENCARGADO</a:t>
            </a:r>
          </a:p>
          <a:p>
            <a:pPr algn="r">
              <a:lnSpc>
                <a:spcPts val="3599"/>
              </a:lnSpc>
            </a:pPr>
            <a:r>
              <a:rPr lang="en-US" sz="2570">
                <a:solidFill>
                  <a:srgbClr val="FFFFFF"/>
                </a:solidFill>
                <a:latin typeface="Neo Tech"/>
                <a:ea typeface="Neo Tech"/>
                <a:cs typeface="Neo Tech"/>
                <a:sym typeface="Neo Tech"/>
              </a:rPr>
              <a:t>Antonio Velásquez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81492" y="5753930"/>
            <a:ext cx="6125016" cy="1416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43"/>
              </a:lnSpc>
            </a:pPr>
            <a:r>
              <a:rPr lang="en-US" sz="9599">
                <a:solidFill>
                  <a:srgbClr val="FF5050"/>
                </a:solidFill>
                <a:latin typeface="Mokoto"/>
                <a:ea typeface="Mokoto"/>
                <a:cs typeface="Mokoto"/>
                <a:sym typeface="Mokoto"/>
              </a:rPr>
              <a:t>SI</a:t>
            </a:r>
            <a:r>
              <a:rPr lang="en-US" sz="9599">
                <a:solidFill>
                  <a:srgbClr val="F3F4FF"/>
                </a:solidFill>
                <a:latin typeface="Mokoto"/>
                <a:ea typeface="Mokoto"/>
                <a:cs typeface="Mokoto"/>
                <a:sym typeface="Mokoto"/>
              </a:rPr>
              <a:t>TRA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6045612" y="2264790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5"/>
                </a:lnTo>
                <a:lnTo>
                  <a:pt x="0" y="72452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42131" y="2207706"/>
            <a:ext cx="1534389" cy="1649880"/>
          </a:xfrm>
          <a:custGeom>
            <a:avLst/>
            <a:gdLst/>
            <a:ahLst/>
            <a:cxnLst/>
            <a:rect r="r" b="b" t="t" l="l"/>
            <a:pathLst>
              <a:path h="1649880" w="1534389">
                <a:moveTo>
                  <a:pt x="0" y="0"/>
                </a:moveTo>
                <a:lnTo>
                  <a:pt x="1534388" y="0"/>
                </a:lnTo>
                <a:lnTo>
                  <a:pt x="1534388" y="1649881"/>
                </a:lnTo>
                <a:lnTo>
                  <a:pt x="0" y="16498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236707" y="2498307"/>
            <a:ext cx="8840434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49"/>
              </a:lnSpc>
            </a:pPr>
            <a:r>
              <a:rPr lang="en-US" b="true" sz="7500">
                <a:solidFill>
                  <a:srgbClr val="FF5050"/>
                </a:solidFill>
                <a:latin typeface="Neo Tech Bold"/>
                <a:ea typeface="Neo Tech Bold"/>
                <a:cs typeface="Neo Tech Bold"/>
                <a:sym typeface="Neo Tech Bold"/>
              </a:rPr>
              <a:t>CONTEXTO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866195" y="4830385"/>
            <a:ext cx="10411421" cy="309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8"/>
              </a:lnSpc>
            </a:pPr>
            <a:r>
              <a:rPr lang="en-US" sz="4305">
                <a:solidFill>
                  <a:srgbClr val="F3F4FF"/>
                </a:solidFill>
                <a:latin typeface="Koho"/>
                <a:ea typeface="Koho"/>
                <a:cs typeface="Koho"/>
                <a:sym typeface="Koho"/>
              </a:rPr>
              <a:t>Sofofa solicitó a Pixelazo Corp un sistema que permita registrar los atrasos de los estudiantes de forma eficaz y segura, con el fin de mejorar la velocidad e integridad de los registros de atraso.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5619092" y="1105270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364451" y="1595437"/>
            <a:ext cx="7239151" cy="4570143"/>
            <a:chOff x="0" y="0"/>
            <a:chExt cx="9652202" cy="609352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9652202" cy="472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2"/>
                </a:lnSpc>
              </a:pPr>
              <a:r>
                <a:rPr lang="en-US" sz="2137" spc="299">
                  <a:solidFill>
                    <a:srgbClr val="8A8A8A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CÓMO SE REGISTRA HOY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387634" y="1091140"/>
              <a:ext cx="8264568" cy="551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1"/>
                </a:lnSpc>
              </a:pPr>
              <a:r>
                <a:rPr lang="en-US" sz="2494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El alumno llega atrasado a la entrada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387634" y="3172591"/>
              <a:ext cx="8264568" cy="605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1"/>
                </a:lnSpc>
              </a:pPr>
              <a:r>
                <a:rPr lang="en-US" sz="2494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El inspector lo anota a mano en el cuaderno</a:t>
              </a:r>
            </a:p>
          </p:txBody>
        </p:sp>
        <p:grpSp>
          <p:nvGrpSpPr>
            <p:cNvPr name="Group 7" id="7"/>
            <p:cNvGrpSpPr/>
            <p:nvPr/>
          </p:nvGrpSpPr>
          <p:grpSpPr>
            <a:xfrm rot="0">
              <a:off x="0" y="904979"/>
              <a:ext cx="1025643" cy="1025643"/>
              <a:chOff x="0" y="0"/>
              <a:chExt cx="863600" cy="8636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63600" cy="863600"/>
              </a:xfrm>
              <a:custGeom>
                <a:avLst/>
                <a:gdLst/>
                <a:ahLst/>
                <a:cxnLst/>
                <a:rect r="r" b="b" t="t" l="l"/>
                <a:pathLst>
                  <a:path h="863600" w="863600">
                    <a:moveTo>
                      <a:pt x="431800" y="0"/>
                    </a:moveTo>
                    <a:cubicBezTo>
                      <a:pt x="670306" y="0"/>
                      <a:pt x="863600" y="193294"/>
                      <a:pt x="863600" y="431800"/>
                    </a:cubicBezTo>
                    <a:cubicBezTo>
                      <a:pt x="863600" y="670306"/>
                      <a:pt x="670306" y="863600"/>
                      <a:pt x="431800" y="863600"/>
                    </a:cubicBezTo>
                    <a:cubicBezTo>
                      <a:pt x="193294" y="863600"/>
                      <a:pt x="0" y="670306"/>
                      <a:pt x="0" y="431800"/>
                    </a:cubicBezTo>
                    <a:cubicBezTo>
                      <a:pt x="0" y="193294"/>
                      <a:pt x="193294" y="0"/>
                      <a:pt x="4318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C383B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863600" cy="911225"/>
              </a:xfrm>
              <a:prstGeom prst="rect">
                <a:avLst/>
              </a:prstGeom>
            </p:spPr>
            <p:txBody>
              <a:bodyPr anchor="ctr" rtlCol="false" tIns="211162" lIns="211162" bIns="211162" rIns="211162"/>
              <a:lstStyle/>
              <a:p>
                <a:pPr algn="l">
                  <a:lnSpc>
                    <a:spcPts val="2940"/>
                  </a:lnSpc>
                </a:pPr>
                <a:r>
                  <a:rPr lang="en-US" b="true" sz="2100">
                    <a:solidFill>
                      <a:srgbClr val="FF5050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1</a:t>
                </a:r>
              </a:p>
            </p:txBody>
          </p:sp>
        </p:grpSp>
        <p:sp>
          <p:nvSpPr>
            <p:cNvPr name="AutoShape 10" id="10"/>
            <p:cNvSpPr/>
            <p:nvPr/>
          </p:nvSpPr>
          <p:spPr>
            <a:xfrm rot="0">
              <a:off x="467572" y="2202115"/>
              <a:ext cx="30166" cy="512821"/>
            </a:xfrm>
            <a:prstGeom prst="rect">
              <a:avLst/>
            </a:prstGeom>
            <a:solidFill>
              <a:srgbClr val="3A3A3A"/>
            </a:solidFill>
          </p:spPr>
        </p:sp>
        <p:grpSp>
          <p:nvGrpSpPr>
            <p:cNvPr name="Group 11" id="11"/>
            <p:cNvGrpSpPr/>
            <p:nvPr/>
          </p:nvGrpSpPr>
          <p:grpSpPr>
            <a:xfrm rot="0">
              <a:off x="0" y="2986430"/>
              <a:ext cx="1025643" cy="1025643"/>
              <a:chOff x="0" y="0"/>
              <a:chExt cx="863600" cy="8636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63600" cy="863600"/>
              </a:xfrm>
              <a:custGeom>
                <a:avLst/>
                <a:gdLst/>
                <a:ahLst/>
                <a:cxnLst/>
                <a:rect r="r" b="b" t="t" l="l"/>
                <a:pathLst>
                  <a:path h="863600" w="863600">
                    <a:moveTo>
                      <a:pt x="431800" y="0"/>
                    </a:moveTo>
                    <a:cubicBezTo>
                      <a:pt x="670306" y="0"/>
                      <a:pt x="863600" y="193294"/>
                      <a:pt x="863600" y="431800"/>
                    </a:cubicBezTo>
                    <a:cubicBezTo>
                      <a:pt x="863600" y="670306"/>
                      <a:pt x="670306" y="863600"/>
                      <a:pt x="431800" y="863600"/>
                    </a:cubicBezTo>
                    <a:cubicBezTo>
                      <a:pt x="193294" y="863600"/>
                      <a:pt x="0" y="670306"/>
                      <a:pt x="0" y="431800"/>
                    </a:cubicBezTo>
                    <a:cubicBezTo>
                      <a:pt x="0" y="193294"/>
                      <a:pt x="193294" y="0"/>
                      <a:pt x="4318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C383B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863600" cy="911225"/>
              </a:xfrm>
              <a:prstGeom prst="rect">
                <a:avLst/>
              </a:prstGeom>
            </p:spPr>
            <p:txBody>
              <a:bodyPr anchor="ctr" rtlCol="false" tIns="211162" lIns="211162" bIns="211162" rIns="211162"/>
              <a:lstStyle/>
              <a:p>
                <a:pPr algn="l">
                  <a:lnSpc>
                    <a:spcPts val="2940"/>
                  </a:lnSpc>
                </a:pPr>
                <a:r>
                  <a:rPr lang="en-US" b="true" sz="2100">
                    <a:solidFill>
                      <a:srgbClr val="FF5050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2</a:t>
                </a:r>
              </a:p>
            </p:txBody>
          </p:sp>
        </p:grpSp>
        <p:sp>
          <p:nvSpPr>
            <p:cNvPr name="AutoShape 14" id="14"/>
            <p:cNvSpPr/>
            <p:nvPr/>
          </p:nvSpPr>
          <p:spPr>
            <a:xfrm rot="0">
              <a:off x="467572" y="4283566"/>
              <a:ext cx="30166" cy="512821"/>
            </a:xfrm>
            <a:prstGeom prst="rect">
              <a:avLst/>
            </a:prstGeom>
            <a:solidFill>
              <a:srgbClr val="3A3A3A"/>
            </a:solidFill>
          </p:spPr>
        </p:sp>
        <p:grpSp>
          <p:nvGrpSpPr>
            <p:cNvPr name="Group 15" id="15"/>
            <p:cNvGrpSpPr/>
            <p:nvPr/>
          </p:nvGrpSpPr>
          <p:grpSpPr>
            <a:xfrm rot="0">
              <a:off x="0" y="5067881"/>
              <a:ext cx="1025643" cy="1025643"/>
              <a:chOff x="0" y="0"/>
              <a:chExt cx="863600" cy="8636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63600" cy="863600"/>
              </a:xfrm>
              <a:custGeom>
                <a:avLst/>
                <a:gdLst/>
                <a:ahLst/>
                <a:cxnLst/>
                <a:rect r="r" b="b" t="t" l="l"/>
                <a:pathLst>
                  <a:path h="863600" w="863600">
                    <a:moveTo>
                      <a:pt x="431800" y="0"/>
                    </a:moveTo>
                    <a:cubicBezTo>
                      <a:pt x="670306" y="0"/>
                      <a:pt x="863600" y="193294"/>
                      <a:pt x="863600" y="431800"/>
                    </a:cubicBezTo>
                    <a:cubicBezTo>
                      <a:pt x="863600" y="670306"/>
                      <a:pt x="670306" y="863600"/>
                      <a:pt x="431800" y="863600"/>
                    </a:cubicBezTo>
                    <a:cubicBezTo>
                      <a:pt x="193294" y="863600"/>
                      <a:pt x="0" y="670306"/>
                      <a:pt x="0" y="431800"/>
                    </a:cubicBezTo>
                    <a:cubicBezTo>
                      <a:pt x="0" y="193294"/>
                      <a:pt x="193294" y="0"/>
                      <a:pt x="4318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C383B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863600" cy="911225"/>
              </a:xfrm>
              <a:prstGeom prst="rect">
                <a:avLst/>
              </a:prstGeom>
            </p:spPr>
            <p:txBody>
              <a:bodyPr anchor="ctr" rtlCol="false" tIns="211162" lIns="211162" bIns="211162" rIns="211162"/>
              <a:lstStyle/>
              <a:p>
                <a:pPr algn="l">
                  <a:lnSpc>
                    <a:spcPts val="2940"/>
                  </a:lnSpc>
                </a:pPr>
                <a:r>
                  <a:rPr lang="en-US" b="true" sz="2100">
                    <a:solidFill>
                      <a:srgbClr val="FF5050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3</a:t>
                </a: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1387634" y="5254042"/>
              <a:ext cx="8264568" cy="551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1"/>
                </a:lnSpc>
              </a:pPr>
              <a:r>
                <a:rPr lang="en-US" sz="2494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La anotación es luego copiada</a:t>
              </a:r>
              <a:r>
                <a:rPr lang="en-US" sz="2494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a Kimche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3817642" y="371067"/>
            <a:ext cx="1158340" cy="990381"/>
          </a:xfrm>
          <a:custGeom>
            <a:avLst/>
            <a:gdLst/>
            <a:ahLst/>
            <a:cxnLst/>
            <a:rect r="r" b="b" t="t" l="l"/>
            <a:pathLst>
              <a:path h="990381" w="1158340">
                <a:moveTo>
                  <a:pt x="0" y="0"/>
                </a:moveTo>
                <a:lnTo>
                  <a:pt x="1158340" y="0"/>
                </a:lnTo>
                <a:lnTo>
                  <a:pt x="1158340" y="990381"/>
                </a:lnTo>
                <a:lnTo>
                  <a:pt x="0" y="9903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364451" y="357187"/>
            <a:ext cx="10894849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49"/>
              </a:lnSpc>
            </a:pPr>
            <a:r>
              <a:rPr lang="en-US" b="true" sz="7500">
                <a:solidFill>
                  <a:srgbClr val="FF5050"/>
                </a:solidFill>
                <a:latin typeface="Neo Tech Bold"/>
                <a:ea typeface="Neo Tech Bold"/>
                <a:cs typeface="Neo Tech Bold"/>
                <a:sym typeface="Neo Tech Bold"/>
              </a:rPr>
              <a:t>PROBLEMÁTICA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921704" y="6359161"/>
            <a:ext cx="515719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FF505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Complicaciones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921704" y="7563662"/>
            <a:ext cx="10411421" cy="2393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3192"/>
              </a:lnSpc>
              <a:buFont typeface="Arial"/>
              <a:buChar char="•"/>
            </a:pPr>
            <a:r>
              <a:rPr lang="en-US" sz="2800">
                <a:solidFill>
                  <a:srgbClr val="F3F4FF"/>
                </a:solidFill>
                <a:latin typeface="Koho"/>
                <a:ea typeface="Koho"/>
                <a:cs typeface="Koho"/>
                <a:sym typeface="Koho"/>
              </a:rPr>
              <a:t>Tiempos de registro altos, generando filas y atrasando más a los alumnos.</a:t>
            </a:r>
          </a:p>
          <a:p>
            <a:pPr algn="l" marL="604521" indent="-302261" lvl="1">
              <a:lnSpc>
                <a:spcPts val="3192"/>
              </a:lnSpc>
              <a:buFont typeface="Arial"/>
              <a:buChar char="•"/>
            </a:pPr>
            <a:r>
              <a:rPr lang="en-US" sz="2800">
                <a:solidFill>
                  <a:srgbClr val="F3F4FF"/>
                </a:solidFill>
                <a:latin typeface="Koho"/>
                <a:ea typeface="Koho"/>
                <a:cs typeface="Koho"/>
                <a:sym typeface="Koho"/>
              </a:rPr>
              <a:t>Nula verificación de identidad, permitiendo el ingreso de información falsa.</a:t>
            </a:r>
          </a:p>
          <a:p>
            <a:pPr algn="l" marL="604521" indent="-302261" lvl="1">
              <a:lnSpc>
                <a:spcPts val="3192"/>
              </a:lnSpc>
              <a:buFont typeface="Arial"/>
              <a:buChar char="•"/>
            </a:pPr>
            <a:r>
              <a:rPr lang="en-US" sz="2800">
                <a:solidFill>
                  <a:srgbClr val="F3F4FF"/>
                </a:solidFill>
                <a:latin typeface="Koho"/>
                <a:ea typeface="Koho"/>
                <a:cs typeface="Koho"/>
                <a:sym typeface="Koho"/>
              </a:rPr>
              <a:t>Registros manuales y duplicados, aumentando la probabilidad de errores e inconsistencias.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720815">
            <a:off x="-5386022" y="5635688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8367064">
            <a:off x="10341117" y="-1585888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13836366" y="0"/>
                </a:moveTo>
                <a:lnTo>
                  <a:pt x="0" y="0"/>
                </a:lnTo>
                <a:lnTo>
                  <a:pt x="0" y="7245225"/>
                </a:lnTo>
                <a:lnTo>
                  <a:pt x="13836366" y="7245225"/>
                </a:lnTo>
                <a:lnTo>
                  <a:pt x="138363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678797" y="3662505"/>
            <a:ext cx="9947705" cy="896491"/>
            <a:chOff x="0" y="0"/>
            <a:chExt cx="13263607" cy="119532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08943" cy="1195321"/>
            </a:xfrm>
            <a:custGeom>
              <a:avLst/>
              <a:gdLst/>
              <a:ahLst/>
              <a:cxnLst/>
              <a:rect r="r" b="b" t="t" l="l"/>
              <a:pathLst>
                <a:path h="1195321" w="2008943">
                  <a:moveTo>
                    <a:pt x="0" y="0"/>
                  </a:moveTo>
                  <a:lnTo>
                    <a:pt x="2008943" y="0"/>
                  </a:lnTo>
                  <a:lnTo>
                    <a:pt x="2008943" y="1195321"/>
                  </a:lnTo>
                  <a:lnTo>
                    <a:pt x="0" y="1195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2258377" y="40891"/>
              <a:ext cx="11005230" cy="11544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419"/>
                </a:lnSpc>
              </a:pPr>
              <a:r>
                <a:rPr lang="en-US" sz="2999">
                  <a:solidFill>
                    <a:srgbClr val="F3F4FF"/>
                  </a:solidFill>
                  <a:latin typeface="Koho"/>
                  <a:ea typeface="Koho"/>
                  <a:cs typeface="Koho"/>
                  <a:sym typeface="Koho"/>
                </a:rPr>
                <a:t>El alumno pasa su tarjeta por el lector en la entrada.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386343" y="8053436"/>
            <a:ext cx="9288806" cy="1380361"/>
            <a:chOff x="0" y="0"/>
            <a:chExt cx="12385075" cy="18404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40481" cy="1840481"/>
            </a:xfrm>
            <a:custGeom>
              <a:avLst/>
              <a:gdLst/>
              <a:ahLst/>
              <a:cxnLst/>
              <a:rect r="r" b="b" t="t" l="l"/>
              <a:pathLst>
                <a:path h="1840481" w="1840481">
                  <a:moveTo>
                    <a:pt x="0" y="0"/>
                  </a:moveTo>
                  <a:lnTo>
                    <a:pt x="1840481" y="0"/>
                  </a:lnTo>
                  <a:lnTo>
                    <a:pt x="1840481" y="1840481"/>
                  </a:lnTo>
                  <a:lnTo>
                    <a:pt x="0" y="1840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2299236" y="401191"/>
              <a:ext cx="10085839" cy="10666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191"/>
                </a:lnSpc>
              </a:pPr>
              <a:r>
                <a:rPr lang="en-US" sz="2799">
                  <a:solidFill>
                    <a:srgbClr val="F3F4FF"/>
                  </a:solidFill>
                  <a:latin typeface="Koho"/>
                  <a:ea typeface="Koho"/>
                  <a:cs typeface="Koho"/>
                  <a:sym typeface="Koho"/>
                </a:rPr>
                <a:t>La pantalla confirma el nombre del alumno y el registro.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564159" y="6118052"/>
            <a:ext cx="7860999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19"/>
              </a:lnSpc>
            </a:pPr>
            <a:r>
              <a:rPr lang="en-US" sz="2999">
                <a:solidFill>
                  <a:srgbClr val="F3F4FF"/>
                </a:solidFill>
                <a:latin typeface="Koho"/>
                <a:ea typeface="Koho"/>
                <a:cs typeface="Koho"/>
                <a:sym typeface="Koho"/>
              </a:rPr>
              <a:t>El sistema guarda el atraso con la fecha y la hora.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942483" y="5663896"/>
            <a:ext cx="1414145" cy="1496450"/>
          </a:xfrm>
          <a:custGeom>
            <a:avLst/>
            <a:gdLst/>
            <a:ahLst/>
            <a:cxnLst/>
            <a:rect r="r" b="b" t="t" l="l"/>
            <a:pathLst>
              <a:path h="1496450" w="1414145">
                <a:moveTo>
                  <a:pt x="0" y="0"/>
                </a:moveTo>
                <a:lnTo>
                  <a:pt x="1414145" y="0"/>
                </a:lnTo>
                <a:lnTo>
                  <a:pt x="1414145" y="1496449"/>
                </a:lnTo>
                <a:lnTo>
                  <a:pt x="0" y="14964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37446" y="352425"/>
            <a:ext cx="4671620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549"/>
              </a:lnSpc>
            </a:pPr>
            <a:r>
              <a:rPr lang="en-US" b="true" sz="7500">
                <a:solidFill>
                  <a:srgbClr val="FF5050"/>
                </a:solidFill>
                <a:latin typeface="Neo Tech Bold"/>
                <a:ea typeface="Neo Tech Bold"/>
                <a:cs typeface="Neo Tech Bold"/>
                <a:sym typeface="Neo Tech Bold"/>
              </a:rPr>
              <a:t>SOLUCIÓN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6115" y="1672876"/>
            <a:ext cx="950487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279"/>
              </a:lnSpc>
            </a:pPr>
            <a:r>
              <a:rPr lang="en-US" b="true" sz="5199">
                <a:solidFill>
                  <a:srgbClr val="F3F4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SofoCard - Tarjeta de atrasos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7845858" y="1402488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5400000">
            <a:off x="11763148" y="1872578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7245225"/>
                </a:moveTo>
                <a:lnTo>
                  <a:pt x="13836366" y="7245225"/>
                </a:lnTo>
                <a:lnTo>
                  <a:pt x="13836366" y="0"/>
                </a:lnTo>
                <a:lnTo>
                  <a:pt x="0" y="0"/>
                </a:lnTo>
                <a:lnTo>
                  <a:pt x="0" y="7245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2598" y="1728626"/>
            <a:ext cx="15682804" cy="8385783"/>
          </a:xfrm>
          <a:custGeom>
            <a:avLst/>
            <a:gdLst/>
            <a:ahLst/>
            <a:cxnLst/>
            <a:rect r="r" b="b" t="t" l="l"/>
            <a:pathLst>
              <a:path h="8385783" w="15682804">
                <a:moveTo>
                  <a:pt x="0" y="0"/>
                </a:moveTo>
                <a:lnTo>
                  <a:pt x="15682804" y="0"/>
                </a:lnTo>
                <a:lnTo>
                  <a:pt x="15682804" y="8385782"/>
                </a:lnTo>
                <a:lnTo>
                  <a:pt x="0" y="83857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352425"/>
            <a:ext cx="18288000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9"/>
              </a:lnSpc>
            </a:pPr>
            <a:r>
              <a:rPr lang="en-US" b="true" sz="7500">
                <a:solidFill>
                  <a:srgbClr val="FF5050"/>
                </a:solidFill>
                <a:latin typeface="Neo Tech Bold"/>
                <a:ea typeface="Neo Tech Bold"/>
                <a:cs typeface="Neo Tech Bold"/>
                <a:sym typeface="Neo Tech Bold"/>
              </a:rPr>
              <a:t>CASOS DE USO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2208272" y="329364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5"/>
                </a:lnTo>
                <a:lnTo>
                  <a:pt x="0" y="72452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62999" y="1279972"/>
            <a:ext cx="2799741" cy="2631756"/>
          </a:xfrm>
          <a:custGeom>
            <a:avLst/>
            <a:gdLst/>
            <a:ahLst/>
            <a:cxnLst/>
            <a:rect r="r" b="b" t="t" l="l"/>
            <a:pathLst>
              <a:path h="2631756" w="2799741">
                <a:moveTo>
                  <a:pt x="0" y="0"/>
                </a:moveTo>
                <a:lnTo>
                  <a:pt x="2799741" y="0"/>
                </a:lnTo>
                <a:lnTo>
                  <a:pt x="2799741" y="2631757"/>
                </a:lnTo>
                <a:lnTo>
                  <a:pt x="0" y="26317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36389" y="1587629"/>
            <a:ext cx="9615222" cy="233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9"/>
              </a:lnSpc>
            </a:pPr>
            <a:r>
              <a:rPr lang="en-US" b="true" sz="7500">
                <a:solidFill>
                  <a:srgbClr val="FF5050"/>
                </a:solidFill>
                <a:latin typeface="Neo Tech Bold"/>
                <a:ea typeface="Neo Tech Bold"/>
                <a:cs typeface="Neo Tech Bold"/>
                <a:sym typeface="Neo Tech Bold"/>
              </a:rPr>
              <a:t>REQUERIMIENTOS</a:t>
            </a:r>
          </a:p>
          <a:p>
            <a:pPr algn="ctr">
              <a:lnSpc>
                <a:spcPts val="8549"/>
              </a:lnSpc>
            </a:pPr>
            <a:r>
              <a:rPr lang="en-US" b="true" sz="7500">
                <a:solidFill>
                  <a:srgbClr val="FF5050"/>
                </a:solidFill>
                <a:latin typeface="Neo Tech Bold"/>
                <a:ea typeface="Neo Tech Bold"/>
                <a:cs typeface="Neo Tech Bold"/>
                <a:sym typeface="Neo Tech Bold"/>
              </a:rPr>
              <a:t>NO FUNCIONALES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47227" y="4607719"/>
            <a:ext cx="4394168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b="true" sz="4800">
                <a:solidFill>
                  <a:srgbClr val="FF5050"/>
                </a:solidFill>
                <a:latin typeface="Arimo Bold"/>
                <a:ea typeface="Arimo Bold"/>
                <a:cs typeface="Arimo Bold"/>
                <a:sym typeface="Arimo Bold"/>
              </a:rPr>
              <a:t>R:6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47227" y="5322094"/>
            <a:ext cx="4394168" cy="423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Lectura veloz de tarjeta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46582" y="6127145"/>
            <a:ext cx="4394168" cy="1132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C4C4C4"/>
                </a:solidFill>
                <a:latin typeface="IBM Plex Sans"/>
                <a:ea typeface="IBM Plex Sans"/>
                <a:cs typeface="IBM Plex Sans"/>
                <a:sym typeface="IBM Plex Sans"/>
              </a:rPr>
              <a:t>El SIRA debe leer la tarjeta y automáticamente registrar el atraso en menos de 3 segundos.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47561" y="4607719"/>
            <a:ext cx="4394168" cy="66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b="true" sz="4800">
                <a:solidFill>
                  <a:srgbClr val="FF5050"/>
                </a:solidFill>
                <a:latin typeface="Arimo Bold"/>
                <a:ea typeface="Arimo Bold"/>
                <a:cs typeface="Arimo Bold"/>
                <a:sym typeface="Arimo Bold"/>
              </a:rPr>
              <a:t>R:7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47561" y="5322094"/>
            <a:ext cx="4394168" cy="402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Prot</a:t>
            </a:r>
            <a:r>
              <a:rPr lang="en-US" sz="25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ección de datos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46916" y="6127145"/>
            <a:ext cx="4394168" cy="1132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C4C4C4"/>
                </a:solidFill>
                <a:latin typeface="IBM Plex Sans"/>
                <a:ea typeface="IBM Plex Sans"/>
                <a:cs typeface="IBM Plex Sans"/>
                <a:sym typeface="IBM Plex Sans"/>
              </a:rPr>
              <a:t>El sistema no debe usar datos biométricos ni guardar información innecesaria para el registro.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46605" y="4607719"/>
            <a:ext cx="4394168" cy="66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b="true" sz="4800">
                <a:solidFill>
                  <a:srgbClr val="FF5050"/>
                </a:solidFill>
                <a:latin typeface="Arimo Bold"/>
                <a:ea typeface="Arimo Bold"/>
                <a:cs typeface="Arimo Bold"/>
                <a:sym typeface="Arimo Bold"/>
              </a:rPr>
              <a:t>R:8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46605" y="5322094"/>
            <a:ext cx="4394168" cy="402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Disponibilidad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245959" y="6127145"/>
            <a:ext cx="4394168" cy="1132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C4C4C4"/>
                </a:solidFill>
                <a:latin typeface="IBM Plex Sans"/>
                <a:ea typeface="IBM Plex Sans"/>
                <a:cs typeface="IBM Plex Sans"/>
                <a:sym typeface="IBM Plex Sans"/>
              </a:rPr>
              <a:t>El sistema debe estar completamente en funcionamiento durante el horario de ingreso (08:00-09:30).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6918183" y="5888904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7735" y="4148528"/>
            <a:ext cx="679170" cy="679170"/>
          </a:xfrm>
          <a:custGeom>
            <a:avLst/>
            <a:gdLst/>
            <a:ahLst/>
            <a:cxnLst/>
            <a:rect r="r" b="b" t="t" l="l"/>
            <a:pathLst>
              <a:path h="679170" w="679170">
                <a:moveTo>
                  <a:pt x="0" y="0"/>
                </a:moveTo>
                <a:lnTo>
                  <a:pt x="679169" y="0"/>
                </a:lnTo>
                <a:lnTo>
                  <a:pt x="679169" y="679170"/>
                </a:lnTo>
                <a:lnTo>
                  <a:pt x="0" y="6791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29272" y="6847980"/>
            <a:ext cx="679170" cy="679170"/>
          </a:xfrm>
          <a:custGeom>
            <a:avLst/>
            <a:gdLst/>
            <a:ahLst/>
            <a:cxnLst/>
            <a:rect r="r" b="b" t="t" l="l"/>
            <a:pathLst>
              <a:path h="679170" w="679170">
                <a:moveTo>
                  <a:pt x="0" y="0"/>
                </a:moveTo>
                <a:lnTo>
                  <a:pt x="679170" y="0"/>
                </a:lnTo>
                <a:lnTo>
                  <a:pt x="679170" y="679170"/>
                </a:lnTo>
                <a:lnTo>
                  <a:pt x="0" y="6791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44868" y="1355083"/>
            <a:ext cx="10894849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49"/>
              </a:lnSpc>
            </a:pPr>
            <a:r>
              <a:rPr lang="en-US" b="true" sz="7500">
                <a:solidFill>
                  <a:srgbClr val="FF5050"/>
                </a:solidFill>
                <a:latin typeface="Neo Tech Bold"/>
                <a:ea typeface="Neo Tech Bold"/>
                <a:cs typeface="Neo Tech Bold"/>
                <a:sym typeface="Neo Tech Bold"/>
              </a:rPr>
              <a:t>CONCLUSIÓN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44868" y="3692966"/>
            <a:ext cx="10148400" cy="1609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7"/>
              </a:lnSpc>
            </a:pPr>
            <a:r>
              <a:rPr lang="en-US" sz="3699">
                <a:solidFill>
                  <a:srgbClr val="FF5050"/>
                </a:solidFill>
                <a:latin typeface="Koho"/>
                <a:ea typeface="Koho"/>
                <a:cs typeface="Koho"/>
                <a:sym typeface="Koho"/>
              </a:rPr>
              <a:t>Liceo RBL necesita urgentemente un mejor sistema de atrasos que priorice la eficacia e integridad.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65371" y="6392418"/>
            <a:ext cx="10148400" cy="1609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7"/>
              </a:lnSpc>
            </a:pPr>
            <a:r>
              <a:rPr lang="en-US" sz="3699">
                <a:solidFill>
                  <a:srgbClr val="FF5050"/>
                </a:solidFill>
                <a:latin typeface="Koho"/>
                <a:ea typeface="Koho"/>
                <a:cs typeface="Koho"/>
                <a:sym typeface="Koho"/>
              </a:rPr>
              <a:t>Nuestra solucion es altamente viable ya que requiere pocos recursos y no ocupa datos sensibles.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125845" y="-4806690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4169213">
            <a:off x="12803724" y="3387204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7161170" y="0"/>
                </a:moveTo>
                <a:lnTo>
                  <a:pt x="0" y="0"/>
                </a:lnTo>
                <a:lnTo>
                  <a:pt x="0" y="10230243"/>
                </a:lnTo>
                <a:lnTo>
                  <a:pt x="7161170" y="10230243"/>
                </a:lnTo>
                <a:lnTo>
                  <a:pt x="716117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499617" y="-3375063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7161170" y="0"/>
                </a:moveTo>
                <a:lnTo>
                  <a:pt x="0" y="0"/>
                </a:lnTo>
                <a:lnTo>
                  <a:pt x="0" y="10230242"/>
                </a:lnTo>
                <a:lnTo>
                  <a:pt x="7161170" y="10230242"/>
                </a:lnTo>
                <a:lnTo>
                  <a:pt x="716117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151067">
            <a:off x="-1812924" y="4400378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0" y="10230242"/>
                </a:moveTo>
                <a:lnTo>
                  <a:pt x="7161170" y="10230242"/>
                </a:lnTo>
                <a:lnTo>
                  <a:pt x="7161170" y="0"/>
                </a:lnTo>
                <a:lnTo>
                  <a:pt x="0" y="0"/>
                </a:lnTo>
                <a:lnTo>
                  <a:pt x="0" y="1023024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25238" y="-1294162"/>
            <a:ext cx="7793442" cy="4080930"/>
          </a:xfrm>
          <a:custGeom>
            <a:avLst/>
            <a:gdLst/>
            <a:ahLst/>
            <a:cxnLst/>
            <a:rect r="r" b="b" t="t" l="l"/>
            <a:pathLst>
              <a:path h="4080930" w="7793442">
                <a:moveTo>
                  <a:pt x="0" y="0"/>
                </a:moveTo>
                <a:lnTo>
                  <a:pt x="7793442" y="0"/>
                </a:lnTo>
                <a:lnTo>
                  <a:pt x="7793442" y="4080930"/>
                </a:lnTo>
                <a:lnTo>
                  <a:pt x="0" y="4080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418899" y="8145970"/>
            <a:ext cx="7793442" cy="4080930"/>
          </a:xfrm>
          <a:custGeom>
            <a:avLst/>
            <a:gdLst/>
            <a:ahLst/>
            <a:cxnLst/>
            <a:rect r="r" b="b" t="t" l="l"/>
            <a:pathLst>
              <a:path h="4080930" w="7793442">
                <a:moveTo>
                  <a:pt x="0" y="0"/>
                </a:moveTo>
                <a:lnTo>
                  <a:pt x="7793442" y="0"/>
                </a:lnTo>
                <a:lnTo>
                  <a:pt x="7793442" y="4080930"/>
                </a:lnTo>
                <a:lnTo>
                  <a:pt x="0" y="4080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rot="0">
            <a:off x="8769001" y="6426708"/>
            <a:ext cx="1143000" cy="38100"/>
          </a:xfrm>
          <a:prstGeom prst="rect">
            <a:avLst/>
          </a:prstGeom>
          <a:solidFill>
            <a:srgbClr val="FC383B"/>
          </a:solidFill>
        </p:spPr>
      </p:sp>
      <p:sp>
        <p:nvSpPr>
          <p:cNvPr name="TextBox 7" id="7"/>
          <p:cNvSpPr txBox="true"/>
          <p:nvPr/>
        </p:nvSpPr>
        <p:spPr>
          <a:xfrm rot="0">
            <a:off x="4412932" y="7036308"/>
            <a:ext cx="3260693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spc="288">
                <a:solidFill>
                  <a:srgbClr val="FF505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INTEGRANTES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12932" y="7398258"/>
            <a:ext cx="32606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69"/>
              </a:lnSpc>
            </a:pPr>
            <a:r>
              <a:rPr lang="en-US" sz="25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Alonso Alfaro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412932" y="7884033"/>
            <a:ext cx="32606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69"/>
              </a:lnSpc>
            </a:pPr>
            <a:r>
              <a:rPr lang="en-US" sz="25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Esteban Bracamonte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626126" y="6998208"/>
            <a:ext cx="1428750" cy="1428750"/>
            <a:chOff x="0" y="0"/>
            <a:chExt cx="1905000" cy="1905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007376" y="7036308"/>
            <a:ext cx="2867787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88">
                <a:solidFill>
                  <a:srgbClr val="FF5050"/>
                </a:solidFill>
                <a:latin typeface="IBM Plex Sans"/>
                <a:ea typeface="IBM Plex Sans"/>
                <a:cs typeface="IBM Plex Sans"/>
                <a:sym typeface="IBM Plex Sans"/>
              </a:rPr>
              <a:t>CURSO · PROFESOR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007376" y="7398258"/>
            <a:ext cx="2867787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4G · Programación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007376" y="7884033"/>
            <a:ext cx="2867787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Antonio Velázquez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868905" y="3336042"/>
            <a:ext cx="2943192" cy="2714101"/>
          </a:xfrm>
          <a:custGeom>
            <a:avLst/>
            <a:gdLst/>
            <a:ahLst/>
            <a:cxnLst/>
            <a:rect r="r" b="b" t="t" l="l"/>
            <a:pathLst>
              <a:path h="2714101" w="2943192">
                <a:moveTo>
                  <a:pt x="0" y="0"/>
                </a:moveTo>
                <a:lnTo>
                  <a:pt x="2943192" y="0"/>
                </a:lnTo>
                <a:lnTo>
                  <a:pt x="2943192" y="2714102"/>
                </a:lnTo>
                <a:lnTo>
                  <a:pt x="0" y="27141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4220" r="0" b="-422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DAHTNQ2BiUY</dc:identifier>
  <dcterms:modified xsi:type="dcterms:W3CDTF">2011-08-01T06:04:30Z</dcterms:modified>
  <cp:revision>1</cp:revision>
  <dc:title>Presentación Sitra</dc:title>
</cp:coreProperties>
</file>